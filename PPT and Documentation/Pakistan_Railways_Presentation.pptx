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05522">
              <a:alpha val="40000"/>
            </a:srgbClr>
          </a:solidFill>
          <a:ln w="12700">
            <a:solidFill>
              <a:srgbClr val="0055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05522">
              <a:alpha val="30000"/>
            </a:srgbClr>
          </a:solidFill>
          <a:ln w="12700">
            <a:solidFill>
              <a:srgbClr val="0055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🚂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RAILWAYS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Redesign Project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&amp; Computer Graphics Course  |  May 2026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4206240"/>
            <a:ext cx="73152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HTML5  |  CSS3  |  Bootstrap 5  |  Vanilla JavaScript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121664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" y="1005840"/>
            <a:ext cx="548640" cy="54864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051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Statement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64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8912" y="1664208"/>
            <a:ext cx="548640" cy="54864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664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7099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Original Website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3225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8912" y="2322576"/>
            <a:ext cx="548640" cy="54864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3225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23682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Principles Implemented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2980944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9809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8912" y="2980944"/>
            <a:ext cx="548640" cy="54864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9809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302666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&amp; Color Palette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639312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8912" y="3639312"/>
            <a:ext cx="548640" cy="54864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7280" y="36850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Pages &amp; Features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69280" y="100584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42432" y="1005840"/>
            <a:ext cx="548640" cy="54864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42432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0" y="1051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669280" y="1664208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42432" y="1664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742432" y="1664208"/>
            <a:ext cx="548640" cy="54864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42432" y="1664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00800" y="17099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Audit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669280" y="2322576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42432" y="23225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742432" y="2322576"/>
            <a:ext cx="548640" cy="54864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42432" y="23225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00800" y="23682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Improvements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669280" y="2980944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42432" y="29809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742432" y="2980944"/>
            <a:ext cx="548640" cy="54864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42432" y="29809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00800" y="302666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Walkthrough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669280" y="3639312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42432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742432" y="3639312"/>
            <a:ext cx="548640" cy="54864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42432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00800" y="36850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121664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Railways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railway of Pakistan — est. 1861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7,791 km of track across the country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450+ stations, 500+ daily trains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65,000 employees serving the nation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public transport infrastructure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0" y="868680"/>
            <a:ext cx="5120640" cy="4114800"/>
          </a:xfrm>
          <a:prstGeom prst="rect">
            <a:avLst/>
          </a:prstGeom>
          <a:solidFill>
            <a:srgbClr val="E8F5E9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1005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69280" y="15544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the Pakistan Railways website to create a modern, accessible, and user-friendly portal that genuinely serves Pakistan's rail passengers using HTML, CSS, and JavaScript.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0" y="3200400"/>
            <a:ext cx="228600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7,791 km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Network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3200400"/>
            <a:ext cx="228600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3977640"/>
            <a:ext cx="228600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3977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Trains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2440" y="3977640"/>
            <a:ext cx="228600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3977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65,000+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0" cy="6400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with Original pakrail.gov.pk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FFF3F3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Mobile Responsive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2801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unusable on smartphones and tablets — no adaptive layout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82296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FFF3F3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4652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Visual 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12801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contrast, inconsistent colors, poor typography, dated aesthetics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FFF3F3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🧭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2148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Navigation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5146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labelled menus, no active states, nested links hard to find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0" y="205740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FFF3F3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2148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Feedback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5146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give no validation, no loading indicators, no confirmation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FFF3F3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♿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3000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Inaccessible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7490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ARIA labels, no keyboard support, no skip navigation, fails WCAG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0" y="329184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FFF3F3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46520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Search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37490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autocomplete, exact station names required, no real-time results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6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HCI Principles Implemented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decision was guided by these core Human-Computer Interaction principles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1965960" cy="3200400"/>
          </a:xfrm>
          <a:prstGeom prst="roundRect">
            <a:avLst>
              <a:gd name="adj" fmla="val 6977"/>
            </a:avLst>
          </a:prstGeom>
          <a:solidFill>
            <a:srgbClr val="005522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7373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♿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compliant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labels, keyboard nav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links, focus indicators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32304" y="1645920"/>
            <a:ext cx="1965960" cy="3200400"/>
          </a:xfrm>
          <a:prstGeom prst="roundRect">
            <a:avLst>
              <a:gd name="adj" fmla="val 6977"/>
            </a:avLst>
          </a:prstGeom>
          <a:solidFill>
            <a:srgbClr val="005522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2304" y="17373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32304" y="2560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23744" y="306324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design system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variables, same components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6 pages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98848" y="1645920"/>
            <a:ext cx="1965960" cy="3200400"/>
          </a:xfrm>
          <a:prstGeom prst="roundRect">
            <a:avLst>
              <a:gd name="adj" fmla="val 6977"/>
            </a:avLst>
          </a:prstGeom>
          <a:solidFill>
            <a:srgbClr val="005522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8848" y="17373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🧭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498848" y="2560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90288" y="306324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navbar, breadcrumbs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states, Back-to-top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hamburger menu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65392" y="1645920"/>
            <a:ext cx="1965960" cy="3200400"/>
          </a:xfrm>
          <a:prstGeom prst="roundRect">
            <a:avLst>
              <a:gd name="adj" fmla="val 6977"/>
            </a:avLst>
          </a:prstGeom>
          <a:solidFill>
            <a:srgbClr val="005522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17373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565392" y="2560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56832" y="306324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validation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indicators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31936" y="1645920"/>
            <a:ext cx="1965960" cy="3200400"/>
          </a:xfrm>
          <a:prstGeom prst="roundRect">
            <a:avLst>
              <a:gd name="adj" fmla="val 6977"/>
            </a:avLst>
          </a:prstGeom>
          <a:solidFill>
            <a:srgbClr val="005522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31936" y="17373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31936" y="2560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23376" y="306324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Autocomplete, recent searches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routes, URL params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shortcuts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  Accessibility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Level AA Compliant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21664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64008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298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Navigation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572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to main content link at top of every page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1280160"/>
            <a:ext cx="64008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1298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Labels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572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buttons, inputs, and nav elements are labeled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103120"/>
            <a:ext cx="64008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21214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Support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395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Tab/Enter/Space/Esc keyboard navigation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2103120"/>
            <a:ext cx="64008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21214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Indicators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395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3px gold focus rings on all interactive elements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926080"/>
            <a:ext cx="64008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2944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Contrast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2186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7.2:1 ratio — exceeds 4.5:1 AA minimum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0" y="2926080"/>
            <a:ext cx="64008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00800" y="2944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32186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&lt;nav&gt;, &lt;main&gt;, &lt;section&gt;, &lt;article&gt; used correctly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749040"/>
            <a:ext cx="64008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97280" y="37673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Labels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97280" y="40416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has associated &lt;label&gt; element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0" y="3749040"/>
            <a:ext cx="64008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400800" y="37673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Regions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0" y="40416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aria-live="polite" on dynamic toast notifications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Consistency &amp; Design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121664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48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Green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#006633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00200" y="137160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004D26"/>
          </a:solidFill>
          <a:ln w="12700">
            <a:solidFill>
              <a:srgbClr val="004D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2148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Green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#004D26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37160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48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Gold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#E8A020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69080" y="137160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2148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Navy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#1A1A2E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 (Headings)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— clean, readable body font for long-form content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0" y="914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Components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0" y="137160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CSS variables for theming (colors, spacing, radii)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header/footer across all 6 pages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button system: Primary, Gold, Outline variants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cards, route cards, stat bars — reused throughout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 styles, same validation messages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8px spacing grid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Navigation  &amp;  💬  User Feedback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121664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navbar — always visible while scrolling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page indicator — gold underline on current page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Breadcrumbs on all inner pages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hamburger menu (Bootstrap collapse)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top button after 400px scroll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"Book Ticket" CTA always in gold in navbar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site map with all page links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"/" keyboard shortcut focuses search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40680" y="822960"/>
            <a:ext cx="0" cy="384048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868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Features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0" y="128016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toast notifications (success/error/warning)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form validation with green/red indicators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helpful error messages per field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loading spinner during payment processing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booking confirmation with reference number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badges: On Time / Delayed / Cancelled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progress bar with percentage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animation on statistics (0→target)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Efficiency — Smart Interactions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121664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0FFF4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Autocomplete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325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stations in datalist — start typing for suggestions on all route inputs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91440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0FFF4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4652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Searches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1325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most recent searches saved in localStorage and shown as quick-access pills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92024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0FFF4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1965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Routes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331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pre-configured routes on homepage — click to auto-fill search form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192024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0FFF4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46520" y="1965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Swap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2331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button to swap origin and destination instantly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0FFF4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51560" y="2971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Date Defaults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337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inputs default to today, prevent past date selection automatically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292608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0FFF4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🪪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46520" y="2971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CNIC Auto-Format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3337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CNIC input auto-formats as user types: XXXXX-XXXXXXX-X pattern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93192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0FFF4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51560" y="3977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Formatting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4343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auto-inserts spaces every 4 digits for easy reading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393192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0FFF4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446520" y="3977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Parameters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46520" y="4343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homepage to schedule page — search params passed via URL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6-Page Website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121664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3337560" cy="1645920"/>
          </a:xfrm>
          <a:prstGeom prst="roundRect">
            <a:avLst>
              <a:gd name="adj" fmla="val 8333"/>
            </a:avLst>
          </a:prstGeom>
          <a:solidFill>
            <a:srgbClr val="F0FFF4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search, popular routes, booking steps, stats, news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94760" y="914400"/>
            <a:ext cx="3337560" cy="1645920"/>
          </a:xfrm>
          <a:prstGeom prst="roundRect">
            <a:avLst>
              <a:gd name="adj" fmla="val 8333"/>
            </a:avLst>
          </a:prstGeom>
          <a:solidFill>
            <a:srgbClr val="F0FFF4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00584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🗓️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94760" y="157276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187452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schedule.html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8620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10 trains, sort by price/time/duration, book directly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2743200"/>
            <a:ext cx="3337560" cy="1645920"/>
          </a:xfrm>
          <a:prstGeom prst="roundRect">
            <a:avLst>
              <a:gd name="adj" fmla="val 8333"/>
            </a:avLst>
          </a:prstGeom>
          <a:solidFill>
            <a:srgbClr val="F0FFF4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83464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🎫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0" y="340156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0" y="370332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booking.html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06640" y="3931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flow: Journey → Passenger → Payment → Confirmation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743200"/>
            <a:ext cx="3337560" cy="1645920"/>
          </a:xfrm>
          <a:prstGeom prst="roundRect">
            <a:avLst>
              <a:gd name="adj" fmla="val 8333"/>
            </a:avLst>
          </a:prstGeom>
          <a:solidFill>
            <a:srgbClr val="F0FFF4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83464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74320" y="340156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Train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" y="370332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track.html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timeline for 8 trains with animated progress bar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94760" y="4572000"/>
            <a:ext cx="3337560" cy="1645920"/>
          </a:xfrm>
          <a:prstGeom prst="roundRect">
            <a:avLst>
              <a:gd name="adj" fmla="val 8333"/>
            </a:avLst>
          </a:prstGeom>
          <a:solidFill>
            <a:srgbClr val="F0FFF4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466344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ℹ️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794760" y="523036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94760" y="553212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about.html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86200" y="5760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since 1861, fleet classes, concession fares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0" y="4572000"/>
            <a:ext cx="3337560" cy="1645920"/>
          </a:xfrm>
          <a:prstGeom prst="roundRect">
            <a:avLst>
              <a:gd name="adj" fmla="val 8333"/>
            </a:avLst>
          </a:prstGeom>
          <a:solidFill>
            <a:srgbClr val="F0FFF4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66344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✉️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315200" y="523036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0" y="553212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contact.html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06640" y="5760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4 regional offices, FAQ accordion, helpline 117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pure HTML, CSS, and JavaScript — no frameworks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920240" cy="3291840"/>
          </a:xfrm>
          <a:prstGeom prst="roundRect">
            <a:avLst>
              <a:gd name="adj" fmla="val 7143"/>
            </a:avLst>
          </a:prstGeom>
          <a:solidFill>
            <a:srgbClr val="0D2E18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0"/>
            <a:ext cx="1920240" cy="59436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markup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&lt;nav&gt;, &lt;main&gt;, &lt;section&gt;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attributes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elements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59152" y="1371600"/>
            <a:ext cx="1920240" cy="3291840"/>
          </a:xfrm>
          <a:prstGeom prst="roundRect">
            <a:avLst>
              <a:gd name="adj" fmla="val 7143"/>
            </a:avLst>
          </a:prstGeom>
          <a:solidFill>
            <a:srgbClr val="0D2E18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59152" y="1371600"/>
            <a:ext cx="1920240" cy="59436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9152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50592" y="20574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&amp; Grid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&amp; transitions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43984" y="1371600"/>
            <a:ext cx="1920240" cy="3291840"/>
          </a:xfrm>
          <a:prstGeom prst="roundRect">
            <a:avLst>
              <a:gd name="adj" fmla="val 7143"/>
            </a:avLst>
          </a:prstGeom>
          <a:solidFill>
            <a:srgbClr val="0D2E18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43984" y="1371600"/>
            <a:ext cx="1920240" cy="59436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3984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35424" y="20574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grid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collapse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 &amp; tabs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classes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28816" y="1371600"/>
            <a:ext cx="1920240" cy="3291840"/>
          </a:xfrm>
          <a:prstGeom prst="roundRect">
            <a:avLst>
              <a:gd name="adj" fmla="val 7143"/>
            </a:avLst>
          </a:prstGeom>
          <a:solidFill>
            <a:srgbClr val="0D2E18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28816" y="1371600"/>
            <a:ext cx="1920240" cy="59436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0256" y="20574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ES6+ Vanilla JS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13648" y="1371600"/>
            <a:ext cx="1920240" cy="3291840"/>
          </a:xfrm>
          <a:prstGeom prst="roundRect">
            <a:avLst>
              <a:gd name="adj" fmla="val 7143"/>
            </a:avLst>
          </a:prstGeom>
          <a:solidFill>
            <a:srgbClr val="0D2E18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13648" y="1371600"/>
            <a:ext cx="1920240" cy="59436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13648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Awesome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05088" y="20574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icons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iconography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icons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Before vs After — Usability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121664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3200400" cy="36576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914400"/>
            <a:ext cx="3200400" cy="365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95160" y="914400"/>
            <a:ext cx="3657600" cy="36576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SITE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371600"/>
            <a:ext cx="3200400" cy="411480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371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1371600"/>
            <a:ext cx="3200400" cy="411480"/>
          </a:xfrm>
          <a:prstGeom prst="rect">
            <a:avLst/>
          </a:prstGeom>
          <a:solidFill>
            <a:srgbClr val="FFF3F3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371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Broken on phones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160" y="1371600"/>
            <a:ext cx="3657600" cy="411480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371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Mobile-first design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828800"/>
            <a:ext cx="3200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Schedule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1828800"/>
            <a:ext cx="3200400" cy="411480"/>
          </a:xfrm>
          <a:prstGeom prst="rect">
            <a:avLst/>
          </a:prstGeom>
          <a:solidFill>
            <a:srgbClr val="FFF3F3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828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Static hard-coded table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95160" y="1828800"/>
            <a:ext cx="3657600" cy="411480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1828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Searchable + sortable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286000"/>
            <a:ext cx="3200400" cy="411480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286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Booking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0" y="2286000"/>
            <a:ext cx="3200400" cy="411480"/>
          </a:xfrm>
          <a:prstGeom prst="rect">
            <a:avLst/>
          </a:prstGeom>
          <a:solidFill>
            <a:srgbClr val="FFF3F3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2286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External PDF links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95160" y="2286000"/>
            <a:ext cx="3657600" cy="411480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2286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4-step online flow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2743200"/>
            <a:ext cx="3200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743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Tracking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0" y="2743200"/>
            <a:ext cx="3200400" cy="411480"/>
          </a:xfrm>
          <a:prstGeom prst="rect">
            <a:avLst/>
          </a:prstGeom>
          <a:solidFill>
            <a:srgbClr val="FFF3F3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2743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available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95160" y="2743200"/>
            <a:ext cx="3657600" cy="411480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86600" y="2743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 timeline visualization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3200400"/>
            <a:ext cx="3200400" cy="411480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200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0" y="3200400"/>
            <a:ext cx="3200400" cy="411480"/>
          </a:xfrm>
          <a:prstGeom prst="rect">
            <a:avLst/>
          </a:prstGeom>
          <a:solidFill>
            <a:srgbClr val="FFF3F3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0" y="3200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feedback at all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995160" y="3200400"/>
            <a:ext cx="3657600" cy="411480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86600" y="3200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Real-time field validation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657600"/>
            <a:ext cx="3200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657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0" y="3657600"/>
            <a:ext cx="3200400" cy="411480"/>
          </a:xfrm>
          <a:prstGeom prst="rect">
            <a:avLst/>
          </a:prstGeom>
          <a:solidFill>
            <a:srgbClr val="FFF3F3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49040" y="3657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Fails WCAG checks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995160" y="3657600"/>
            <a:ext cx="3657600" cy="411480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86600" y="3657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WCAG 2.1 AA compliant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5760" y="4114800"/>
            <a:ext cx="3200400" cy="411480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114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57600" y="4114800"/>
            <a:ext cx="3200400" cy="411480"/>
          </a:xfrm>
          <a:prstGeom prst="rect">
            <a:avLst/>
          </a:prstGeom>
          <a:solidFill>
            <a:srgbClr val="FFF3F3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0" y="4114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Confusing menus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995160" y="4114800"/>
            <a:ext cx="3657600" cy="411480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86600" y="4114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Sticky, active, breadcrumbs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65760" y="4572000"/>
            <a:ext cx="3200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572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657600" y="4572000"/>
            <a:ext cx="3200400" cy="411480"/>
          </a:xfrm>
          <a:prstGeom prst="rect">
            <a:avLst/>
          </a:prstGeom>
          <a:solidFill>
            <a:srgbClr val="FFF3F3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49040" y="4572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Manual exact text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995160" y="4572000"/>
            <a:ext cx="3657600" cy="411480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86600" y="4572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Autocomplete + recent searches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0" cy="64008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  Accessibility Audit — WCAG 2.1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121664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1371600" cy="347472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914400"/>
            <a:ext cx="3200400" cy="347472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914400"/>
            <a:ext cx="640080" cy="347472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914400"/>
            <a:ext cx="822960" cy="347472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914400"/>
            <a:ext cx="4023360" cy="347472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9144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9144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9144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325880"/>
            <a:ext cx="137160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325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37360" y="1325880"/>
            <a:ext cx="320040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1325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Non-text Content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1325880"/>
            <a:ext cx="64008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325880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0" y="1325880"/>
            <a:ext cx="822960" cy="329184"/>
          </a:xfrm>
          <a:prstGeom prst="rect">
            <a:avLst/>
          </a:prstGeom>
          <a:solidFill>
            <a:srgbClr val="D4EDD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132588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1325880"/>
            <a:ext cx="402336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13258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icons have aria-hidden; images have alt text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167335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673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37360" y="167335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83080" y="1673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and Relationships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1673352"/>
            <a:ext cx="640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1673352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60720" y="1673352"/>
            <a:ext cx="822960" cy="329184"/>
          </a:xfrm>
          <a:prstGeom prst="rect">
            <a:avLst/>
          </a:prstGeom>
          <a:solidFill>
            <a:srgbClr val="D4EDD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167335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75120" y="1673352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167335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HTML: nav, main, section, header, footer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020824"/>
            <a:ext cx="137160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020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737360" y="2020824"/>
            <a:ext cx="320040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83080" y="2020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Minimum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0" y="2020824"/>
            <a:ext cx="64008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2020824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60720" y="2020824"/>
            <a:ext cx="822960" cy="329184"/>
          </a:xfrm>
          <a:prstGeom prst="rect">
            <a:avLst/>
          </a:prstGeom>
          <a:solidFill>
            <a:srgbClr val="D4EDD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06440" y="202082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75120" y="2020824"/>
            <a:ext cx="402336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202082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7.2:1 achieved — exceeds 4.5:1 requirement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236829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368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737360" y="236829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83080" y="2368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Accessible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29200" y="2368296"/>
            <a:ext cx="640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4920" y="2368296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760720" y="2368296"/>
            <a:ext cx="822960" cy="329184"/>
          </a:xfrm>
          <a:prstGeom prst="rect">
            <a:avLst/>
          </a:prstGeom>
          <a:solidFill>
            <a:srgbClr val="D4EDD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06440" y="236829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675120" y="2368296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20840" y="236829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functionality accessible via keyboard only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2715768"/>
            <a:ext cx="137160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2715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2.4.1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737360" y="2715768"/>
            <a:ext cx="320040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83080" y="2715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Blocks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029200" y="2715768"/>
            <a:ext cx="64008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74920" y="271576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760720" y="2715768"/>
            <a:ext cx="822960" cy="329184"/>
          </a:xfrm>
          <a:prstGeom prst="rect">
            <a:avLst/>
          </a:prstGeom>
          <a:solidFill>
            <a:srgbClr val="D4EDD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06440" y="271576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675120" y="2715768"/>
            <a:ext cx="402336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20840" y="271576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to main content link on every page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306324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063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2.4.4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737360" y="306324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83080" y="3063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Purpose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029200" y="3063240"/>
            <a:ext cx="640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74920" y="3063240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760720" y="3063240"/>
            <a:ext cx="822960" cy="329184"/>
          </a:xfrm>
          <a:prstGeom prst="rect">
            <a:avLst/>
          </a:prstGeom>
          <a:solidFill>
            <a:srgbClr val="D4EDD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06440" y="306324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675120" y="3063240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20840" y="306324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links have descriptive text or aria-label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74320" y="3410712"/>
            <a:ext cx="137160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3410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737360" y="3410712"/>
            <a:ext cx="320040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783080" y="3410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Identification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5029200" y="3410712"/>
            <a:ext cx="64008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74920" y="3410712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760720" y="3410712"/>
            <a:ext cx="822960" cy="329184"/>
          </a:xfrm>
          <a:prstGeom prst="rect">
            <a:avLst/>
          </a:prstGeom>
          <a:solidFill>
            <a:srgbClr val="D4EDD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806440" y="341071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675120" y="3410712"/>
            <a:ext cx="402336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720840" y="341071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error messages with specific guidance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74320" y="375818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0040" y="375818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3.3.2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1737360" y="375818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783080" y="375818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or Instructions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5029200" y="3758184"/>
            <a:ext cx="640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074920" y="3758184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5760720" y="3758184"/>
            <a:ext cx="822960" cy="329184"/>
          </a:xfrm>
          <a:prstGeom prst="rect">
            <a:avLst/>
          </a:prstGeom>
          <a:solidFill>
            <a:srgbClr val="D4EDD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806440" y="375818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675120" y="3758184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720840" y="375818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form inputs have explicit &lt;label&gt; elements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274320" y="4105656"/>
            <a:ext cx="137160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20040" y="41056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4.1.2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1737360" y="4105656"/>
            <a:ext cx="320040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783080" y="410565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Role, Value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5029200" y="4105656"/>
            <a:ext cx="64008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074920" y="4105656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5760720" y="4105656"/>
            <a:ext cx="822960" cy="329184"/>
          </a:xfrm>
          <a:prstGeom prst="rect">
            <a:avLst/>
          </a:prstGeom>
          <a:solidFill>
            <a:srgbClr val="D4EDD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806440" y="410565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6675120" y="4105656"/>
            <a:ext cx="4023360" cy="329184"/>
          </a:xfrm>
          <a:prstGeom prst="rect">
            <a:avLst/>
          </a:prstGeom>
          <a:solidFill>
            <a:srgbClr val="F0FF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720840" y="410565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attributes on interactive controls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274320" y="445312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20040" y="445312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4.1.3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1737360" y="445312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783080" y="445312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Messages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5029200" y="4453128"/>
            <a:ext cx="640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074920" y="445312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760720" y="4453128"/>
            <a:ext cx="822960" cy="329184"/>
          </a:xfrm>
          <a:prstGeom prst="rect">
            <a:avLst/>
          </a:prstGeom>
          <a:solidFill>
            <a:srgbClr val="D4EDD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806440" y="445312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6675120" y="4453128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720840" y="44531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aria-live="polite" on dynamic content regions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6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4572000" cy="4572000"/>
          </a:xfrm>
          <a:prstGeom prst="ellipse">
            <a:avLst/>
          </a:prstGeom>
          <a:solidFill>
            <a:srgbClr val="005522">
              <a:alpha val="50000"/>
            </a:srgbClr>
          </a:solidFill>
          <a:ln w="12700">
            <a:solidFill>
              <a:srgbClr val="0055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05522">
              <a:alpha val="40000"/>
            </a:srgbClr>
          </a:solidFill>
          <a:ln w="12700">
            <a:solidFill>
              <a:srgbClr val="0055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0" y="1097280"/>
            <a:ext cx="54864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71600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6 pages built with HTML/CSS/JS — no modern frameworks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65376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 HCI principles fully implemented and demonstrated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WCAG 2.1 AA accessibility compliance achieved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852928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Mobile-first responsive design across all screen sizes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346704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 ticket booking flow, schedule search, train tracking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Professional government-grade portal aesthetic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420624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government portal that citizens actually want to use — accessible, consistent, and efficient."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6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457200"/>
            <a:ext cx="3657600" cy="3657600"/>
          </a:xfrm>
          <a:prstGeom prst="ellipse">
            <a:avLst/>
          </a:prstGeom>
          <a:solidFill>
            <a:srgbClr val="005522">
              <a:alpha val="60000"/>
            </a:srgbClr>
          </a:solidFill>
          <a:ln w="12700">
            <a:solidFill>
              <a:srgbClr val="0055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🚂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Railways — UI/UX Redesign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&amp; Computer Graphics Course  |  May 2026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0" y="3886200"/>
            <a:ext cx="54864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069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Pakistan Railways UI Redesign</dc:title>
  <dc:subject>HCI &amp; Computer Graphics Course</dc:subject>
  <dc:creator>HCI Project Team</dc:creator>
  <cp:lastModifiedBy>HCI Project Team</cp:lastModifiedBy>
  <cp:revision>1</cp:revision>
  <dcterms:created xsi:type="dcterms:W3CDTF">2026-05-21T15:40:34Z</dcterms:created>
  <dcterms:modified xsi:type="dcterms:W3CDTF">2026-05-21T15:40:34Z</dcterms:modified>
</cp:coreProperties>
</file>